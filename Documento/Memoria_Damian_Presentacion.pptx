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960120" cy="1097280"/>
          </a:xfrm>
          <a:prstGeom prst="rect">
            <a:avLst/>
          </a:prstGeom>
        </p:spPr>
      </p:pic>
      <p:pic>
        <p:nvPicPr>
          <p:cNvPr id="3" name="Image 1" descr="/mnt/data/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320040"/>
            <a:ext cx="205740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1874520"/>
            <a:ext cx="10104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un control sin sensores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motores stepper aplicado a un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Clinostato de 2 dimensiones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2743200" y="39776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Damián Andrés Bravo Campusano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82880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3"/>
                </a:solidFill>
              </a:rPr>
              <a:t>Profesor guía: Dr. Fernando Fuentes · Profesor co-guía: Dr. Ignacio Torres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Hilo conductor de la presentación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82026"/>
                </a:solidFill>
              </a:rPr>
              <a:t>La presentación avanza desde un sistema completamente conocido hacia el problema de estimación que aborda la memoria.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640080" cy="64008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09728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Control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¿La planta responde correctamente?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240280"/>
            <a:ext cx="640080" cy="64008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23360" y="2560320"/>
            <a:ext cx="109728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Sensorless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889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¿Qué ocurre al retirar el sensor?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2240280"/>
            <a:ext cx="640080" cy="64008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560320"/>
            <a:ext cx="109728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212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HFI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749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¿Cómo recuperamos información a baja velocidad?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2240280"/>
            <a:ext cx="640080" cy="64008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95360" y="2560320"/>
            <a:ext cx="109728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Perturbaciones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609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¿Qué pasa con la velocidad instantánea?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41280" y="224028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84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Propuesta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6469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¿Ayudan los estados aumentados?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estudio: motor stepper a baja velocidad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20116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90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Motor paso a paso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Máquina bifásica de alta cantidad de polos. Se modela como PMSM saliente para trabajar en coordenadas dq.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25880"/>
            <a:ext cx="73152" cy="201168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90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Aplicación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1892808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Operación a baja velocidad, donde interesa una velocidad suave y una estimación mecánica precisa.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13258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325880"/>
            <a:ext cx="73152" cy="2011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4904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Dificultad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1892808"/>
            <a:ext cx="283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Cogging, carga y baja FEM hacen más exigente la operación sensorless.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2519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B4C"/>
                </a:solidFill>
              </a:rPr>
              <a:t>Primera pregunta: antes de estimar estados, ¿el modelo y la estrategia de control se comportan correctamente?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Comportamiento en lazo abierto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velocidad / posición / corrientes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Ensayo de la planta sin lazo de velocidad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Qué observar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Respuesta natural del motor y presencia de oscilaciones/ripple.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880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880360"/>
            <a:ext cx="73152" cy="123444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Qué establecer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4472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El modelo reproduce el comportamiento electromecánico esperado antes de cerrar los lazos.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4348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434840"/>
            <a:ext cx="73152" cy="1051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599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Siguiente paso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500176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Cerrar corriente y velocidad usando estados reales.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Validación del lazo de corriente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Id/Id* e Iq/Iq*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Misma escala temporal para referencia y corriente medida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3716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Objetivo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Verificar seguimiento de las referencias dq y que el lazo interno sea suficientemente rápido.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3063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3063240"/>
            <a:ext cx="73152" cy="137160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Parámetros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6301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fs,i = 10 kHz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fc ≈ 500 Hz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48920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Si el lazo interno no sigue correctamente, cualquier error posterior podría atribuirse erróneamente al observador.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Lazo cerrado de velocidad con estados reales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ωm* y ωm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Usar θm y ωm reales de la planta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Pregunta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¿El controlador regula correctamente la velocidad cuando conoce los estados mecánicos?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880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880360"/>
            <a:ext cx="73152" cy="123444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Interpretación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4472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Este ensayo separa el problema de control del problema de estimación.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4348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434840"/>
            <a:ext cx="73152" cy="1051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599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Conclusión buscada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500176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La arquitectura de control queda validada antes de retirar el sensor.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688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ocurre si retiramos el sensor mecánico?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E7EF"/>
                </a:solidFill>
              </a:rPr>
              <a:t>Hasta aquí el controlador conoce θm y ωm.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2331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Sensorless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33375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[Ia, Ib, Va, Vb]  →  observador  →  [θ̂m, ω̂m]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Ahora el desempeño del control depende de la calidad de la reconstrucción de los estados mecánicos.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Estimación sensorless base: EKF sin HFI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θm vs θ̂m y ωm vs ω̂m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Ensayo sensorless a baja velocidad, sin inyección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2801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Modelo base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x = [Id, Iq, ωm, θm]ᵀ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9260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926080"/>
            <a:ext cx="73152" cy="1280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0906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Problema esperado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4930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Al disminuir la velocidad, la FEM entrega menos información mecánica.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5262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526280"/>
            <a:ext cx="73152" cy="960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690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Qué medir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50932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Error, desfase y estabilidad de θ̂m y ω̂m.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baja velocidad es también un problema de información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234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3B4C"/>
                </a:solidFill>
              </a:rPr>
              <a:t>dIq/dt · (ΔL·Id + Ke) − ΔL·Iq · dId/dt ≠ 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03120" y="22402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Para velocidad aproximadamente constante: dIq/dt ≈ 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7285"/>
                </a:solidFill>
              </a:rPr>
              <a:t>⇒  −ΔL · Iq · dId/dt ≠ 0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886200"/>
            <a:ext cx="73152" cy="11887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0507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Saliencia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4453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ΔL ≠ 0 permite que la respuesta eléctrica dependa de la orientación.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38862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388620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507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Velocidad constante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4453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Iq puede mantenerse casi constante, por lo que dIq/dt aporta poca excitación.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38862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3886200"/>
            <a:ext cx="73152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0507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Idea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4453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Forzar dId/dt mediante una señal de alta frecuencia.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Incorporación de HFI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B4C"/>
                </a:solidFill>
              </a:rPr>
              <a:t>Inyección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v*d = v*d,ctrl + VHFI sin(2πfHFI 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2011680"/>
            <a:ext cx="77724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132588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325880"/>
            <a:ext cx="73152" cy="14173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Respuesta eléctrica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1892808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La saliencia Ld ≠ Lq modula la corriente según la orientación del rotor.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2011680"/>
            <a:ext cx="77724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132588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1325880"/>
            <a:ext cx="73152" cy="1417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Demodulación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0" y="1892808"/>
            <a:ext cx="2697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BPF → proyección → demodulación → LPF → εHFI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20240" y="3337560"/>
            <a:ext cx="8321040" cy="196596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566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39730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señal HFI / εHFI / respuesta de corriente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94560" y="4736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Mostrar que la señal inyectada genera información angular utilizable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HFI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EKF + HFI: reconstrucción de posición y velocidad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θm vs θ̂m y ωm vs ω̂m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Comparar directamente con la diapositiva “EKF sin HFI”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2801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Comparación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Mantener condiciones, escalas y referencias del ensayo anterior.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9260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926080"/>
            <a:ext cx="73152" cy="128016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0906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Pregunta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4930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¿La información HFI mejora la alineación angular y la estimación a baja velocidad?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5262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526280"/>
            <a:ext cx="73152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690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Importante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50932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HFI no es una medición directa de posición; aporta una innovación adicional.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¿Qué ocurre cuando aparecen perturbaciones mecánicas?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ωm y ω̂m con carga / cogging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Idealmente mostrar carga, cogging y combinación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Carga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TL: componente externa lenta o aproximadamente constante.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74320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743200"/>
            <a:ext cx="73152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907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Cogging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3101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Tcog: componente periódica dependiente de la posición.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1605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160520"/>
            <a:ext cx="73152" cy="132588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325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Problema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4727448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Aunque la posición pueda reconstruirse, la velocidad instantánea puede aparecer atenuada o desfasada.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problema observado a la brecha de investigación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73152" cy="224028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Sensorless baja velocidad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801368"/>
            <a:ext cx="30175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HFI y observadores no lineales permiten recuperar información angular cuando la FEM es débil.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234440"/>
            <a:ext cx="73152" cy="22402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399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Estimación de perturbaciones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1801368"/>
            <a:ext cx="30175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DOB, ESO y estados aumentados representan perturbaciones agregadas o estructuradas.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234440"/>
            <a:ext cx="73152" cy="2240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399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Perturbaciones periódicas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66760" y="1801368"/>
            <a:ext cx="30175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Observadores armónicos y modelos repetitivos permiten representar componentes selectivas.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Brecha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3977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Determinar si estados destinados a representar perturbaciones de torque mejoran la reconstrucción de la velocidad mecánica instantánea durante operación sensorless a baja velocidad, sin perder de vista observabilidad e identificabilidad.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de investigación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08760"/>
            <a:ext cx="101498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3B4C"/>
                </a:solidFill>
              </a:rPr>
              <a:t>¿En qué medida la incorporación de estados destinados a representar perturbaciones de torque permite mejorar la reconstrucción de la velocidad mecánica instantánea de un motor paso a paso durante su operación sensorless a baja velocidad?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0" y="3886200"/>
            <a:ext cx="8503920" cy="0"/>
          </a:xfrm>
          <a:prstGeom prst="line">
            <a:avLst/>
          </a:prstGeom>
          <a:noFill/>
          <a:ln w="19050">
            <a:solidFill>
              <a:srgbClr val="D7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343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573"/>
                </a:solidFill>
              </a:rPr>
              <a:t>No se busca asumir que cada estado agregado corresponde automáticamente a una perturbación física individual.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 y objetivos específicos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3B4C"/>
                </a:solidFill>
              </a:rPr>
              <a:t>Desarrollar y evaluar una estrategia de estimación de estados aumentados para mejorar la reconstrucción de la velocidad mecánica instantánea de un motor paso a paso en operación sensorless a baja velocidad.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14600"/>
            <a:ext cx="73152" cy="9601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791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081528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Incorporar perturbaciones lentas y periódicas al modelo aumentado.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5146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514600"/>
            <a:ext cx="73152" cy="9601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791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081528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Analizar observabilidad al agregar progresivamente estados.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0480"/>
            <a:ext cx="73152" cy="960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05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4407408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Comparar error, atenuación y desfase de la velocidad estimada.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384048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840480"/>
            <a:ext cx="73152" cy="960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005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4407408"/>
            <a:ext cx="4617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Estudiar correspondencia entre estados estimados y torque perturbador real.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Propuesta: del observador base al estado de perturbación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251960" cy="320040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73152" cy="320040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819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EKF base — 4 estados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3840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x₄ = [Id, Iq, ωm, θm]ᵀ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Las perturbaciones no modeladas aparecen como discrepancias entre planta y modelo.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57800" y="3017520"/>
            <a:ext cx="164592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6235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+ Tx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4251960" cy="320040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417320"/>
            <a:ext cx="73152" cy="32004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5819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EKF aumentado — 5 estados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1984248"/>
            <a:ext cx="3840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x₅ = [Id, Iq, ωm, θm, Tx]ᵀ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Tx representa una perturbación mecánica equivalente de dinámica lenta.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5074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Pregunta experimental: ¿agregar Tx mejora ω̂m aun cuando Tx no identifique por separado carga y cogging?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Comparación: 4 estados vs 5 estados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81228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6304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5010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ωm, ω̂4E y ω̂5E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Mismo ensayo, misma perturbación y misma escala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325880"/>
            <a:ext cx="73152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Métrica principal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Error de velocidad mecánica instantánea.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7889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788920"/>
            <a:ext cx="73152" cy="11887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9535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Métricas dinámicas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3558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Atenuación y desfase de las oscilaciones.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2519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25196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416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Métrica secundaria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48188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Comparar Tx estimado con el torque perturbador total.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¿Qué representa realmente Tx?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143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3B4C"/>
                </a:solidFill>
              </a:rPr>
              <a:t>Td = TL + Tp(θm)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812280" cy="347472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355848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Td real vs T̂x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487375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Usar carga, cogging y combinación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09560" y="1965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1965960"/>
            <a:ext cx="73152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30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Si sigue la componente lenta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0" y="25328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Tx puede actuar como perturbación equivalente útil para el modelo.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09560" y="35204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3520440"/>
            <a:ext cx="73152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6850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Si no reproduce el cogging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38160" y="408736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La hipótesis de perturbación lenta resulta insuficiente para la parte periódica.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5074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</a:rPr>
              <a:t>Esto motiva agregar estructura periódica al observador.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Estados armónicos para la perturbación periódica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3B4C"/>
                </a:solidFill>
              </a:rPr>
              <a:t>Tp⁽ᴺ⁾(θm) = A₀ + Σ [Ak cos(kNcθm) + Bk sin(kNcθm)]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73152" cy="196596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96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Modelo 4E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898648"/>
            <a:ext cx="2697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Id, Iq, ωm, θm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Referencia 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3317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331720"/>
            <a:ext cx="73152" cy="19659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96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Modelo 5E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898648"/>
            <a:ext cx="2697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+ Tx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Perturbación equivalente lenta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331720"/>
            <a:ext cx="73152" cy="19659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496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Modelo armónico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898648"/>
            <a:ext cx="26974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+ Ak, Bk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Estructura periódica de orden finito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El número de armónicos se transforma en una variable de diseño: representación ↔ complejidad ↔ observabilidad.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Comparación progresiva del observador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995160" cy="452628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50108"/>
            <a:ext cx="6355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ωm vs estimaciones 4E / 5E / armónico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193792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Puede ser una sola gráfica o tres paneles equivalentes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09560" y="12801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280160"/>
            <a:ext cx="73152" cy="109728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44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4 estados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38160" y="1847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Referencia del observador 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6517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2651760"/>
            <a:ext cx="73152" cy="10972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816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5 estados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2186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Efecto de una perturbación equivalente.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40233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4023360"/>
            <a:ext cx="73152" cy="1097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187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Armónicos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4590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Efecto de incorporar estructura periódica.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5394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Comparar siempre bajo las mismas condiciones sensorless + HFI.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Observabilidad de los modelos aumentados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73152" cy="20116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</a:rPr>
              <a:t>Rango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2880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rank(𝒪)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¿El modelo es localmente observable?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80160"/>
            <a:ext cx="73152" cy="201168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A7CE"/>
                </a:solidFill>
              </a:rPr>
              <a:t>Valor singular mínimo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2880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σmin(𝒪)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¿Qué tan débil es la dirección menos observable?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280160"/>
            <a:ext cx="73152" cy="2011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</a:rPr>
              <a:t>Condicionamiento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66760" y="1847088"/>
            <a:ext cx="2880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κ(𝒪)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82026"/>
                </a:solidFill>
              </a:rPr>
              <a:t>¿Cómo cambia la sensibilidad numérica al agregar estados?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17320" y="3977640"/>
            <a:ext cx="9372600" cy="1508760"/>
          </a:xfrm>
          <a:prstGeom prst="roundRect">
            <a:avLst/>
          </a:prstGeom>
          <a:solidFill>
            <a:srgbClr val="F7FAFB"/>
          </a:solidFill>
          <a:ln w="17780">
            <a:solidFill>
              <a:srgbClr val="AAB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4206240"/>
            <a:ext cx="9006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285"/>
                </a:solidFill>
              </a:rPr>
              <a:t>SIMULACIÓN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4384548"/>
            <a:ext cx="8732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B4C"/>
                </a:solidFill>
              </a:rPr>
              <a:t>PEGAR: rango / σmin / condición vs configuración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4919472"/>
            <a:ext cx="8823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4E → 5E → armónicos; idealmente también variar velocidad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Matriz final de evaluación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377440" cy="594360"/>
          </a:xfrm>
          <a:prstGeom prst="rect">
            <a:avLst/>
          </a:prstGeom>
          <a:solidFill>
            <a:srgbClr val="073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325880"/>
            <a:ext cx="1828800" cy="594360"/>
          </a:xfrm>
          <a:prstGeom prst="rect">
            <a:avLst/>
          </a:prstGeom>
          <a:solidFill>
            <a:srgbClr val="073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1325880"/>
            <a:ext cx="1828800" cy="594360"/>
          </a:xfrm>
          <a:prstGeom prst="rect">
            <a:avLst/>
          </a:prstGeom>
          <a:solidFill>
            <a:srgbClr val="073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325880"/>
            <a:ext cx="1828800" cy="594360"/>
          </a:xfrm>
          <a:prstGeom prst="rect">
            <a:avLst/>
          </a:prstGeom>
          <a:solidFill>
            <a:srgbClr val="073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1325880"/>
            <a:ext cx="1828800" cy="594360"/>
          </a:xfrm>
          <a:prstGeom prst="rect">
            <a:avLst/>
          </a:prstGeom>
          <a:solidFill>
            <a:srgbClr val="073B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99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499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estados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499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estados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499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Armónicos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1499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Qué observar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1920240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1214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Sin perturbación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192024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49240" y="192024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192024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92024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27464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026"/>
                </a:solidFill>
              </a:rPr>
              <a:t>Error 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633472"/>
            <a:ext cx="237744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28346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Carga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2633472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2834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49240" y="2633472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4104" y="2834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60920" y="2633472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15784" y="2834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72600" y="2633472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7464" y="28346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026"/>
                </a:solidFill>
              </a:rPr>
              <a:t>Componente lenta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334670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" y="35478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Cogging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37560" y="334670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35478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49240" y="334670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04104" y="35478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60920" y="334670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35478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72600" y="334670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27464" y="35478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026"/>
                </a:solidFill>
              </a:rPr>
              <a:t>Ripple / fase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4059936"/>
            <a:ext cx="237744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" y="42611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Carga + cogging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337560" y="4059936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2424" y="42611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349240" y="4059936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04104" y="42611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360920" y="4059936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15784" y="42611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372600" y="4059936"/>
            <a:ext cx="1828800" cy="713232"/>
          </a:xfrm>
          <a:prstGeom prst="rect">
            <a:avLst/>
          </a:prstGeom>
          <a:solidFill>
            <a:srgbClr val="F7FAFB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7464" y="42611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026"/>
                </a:solidFill>
              </a:rPr>
              <a:t>Separación equivalente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77240" y="477316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" y="497433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Baja velocidad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337560" y="477316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92424" y="4974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349240" y="477316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04104" y="4974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360920" y="477316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5784" y="4974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82026"/>
                </a:solidFill>
              </a:rPr>
              <a:t>□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372600" y="4773168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27464" y="49743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82026"/>
                </a:solidFill>
              </a:rPr>
              <a:t>Observabilidad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</a:rPr>
              <a:t>Métricas: RMSE · atenuación · desfase · error angular · correspondencia de torque · observabilidad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5800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CONTROL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5800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98648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SENSORLESS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898648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11496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HFI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11496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24344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AB0"/>
                </a:solidFill>
              </a:rPr>
              <a:t>PERTURBACIONES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24344" y="6565392"/>
            <a:ext cx="19659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37192" y="6318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ESTADOS AUMENTADOS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537192" y="6565392"/>
            <a:ext cx="196596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debería permitir concluir la comparación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092708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96112"/>
            <a:ext cx="50292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Si el estado Tx mejora la velocidad instantánea respecto del modelo base.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Si la estructura armónica reduce la atenuación o el desfase del ripple de velocidad.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Hasta qué punto los estados adicionales reconstruyen un torque equivalente y no componentes físicas individualmente identificables.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Cómo cambia la observabilidad al aumentar la dimensión del observador.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82026"/>
                </a:solidFill>
              </a:rPr>
              <a:t>Qué compromiso existe entre fidelidad de la velocidad estimada, complejidad y ancho de banda disponible.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34440" y="53492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3B4C"/>
                </a:solidFill>
              </a:rPr>
              <a:t>La contribución no depende de “agregar muchos bloques”, sino de comparar sistemáticamente qué información aporta cada nivel de modelo.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688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E7EF"/>
                </a:solidFill>
              </a:rPr>
              <a:t>CONTROL  →  SENSORLESS  →  HFI  →  PERTURBACIONES  →  ESTADOS AUMENTADOS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La presentación construye el problema experimentalmente y recién después introduce la propuesta de la memoria.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El resultado central será la comparación entre el observador base, el estado de perturbación equivalente y los estados armónicos para reconstruir la velocidad mecánica instantánea.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914400" cy="1051560"/>
          </a:xfrm>
          <a:prstGeom prst="rect">
            <a:avLst/>
          </a:prstGeom>
        </p:spPr>
      </p:pic>
      <p:pic>
        <p:nvPicPr>
          <p:cNvPr id="3" name="Image 1" descr="/mnt/data/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11480"/>
            <a:ext cx="205740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73B4C"/>
                </a:solidFill>
              </a:rPr>
              <a:t>Gracias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3429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3"/>
                </a:solidFill>
              </a:rPr>
              <a:t>Preguntas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Universidad de Talca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de un control sin sensores para motores stepper aplicado a un Clinostato de 2 dimensiones</dc:title>
  <dc:subject>Memoria Damián Bravo</dc:subject>
  <dc:creator>OpenAI</dc:creator>
  <cp:lastModifiedBy>OpenAI</cp:lastModifiedBy>
  <cp:revision>1</cp:revision>
  <dcterms:created xsi:type="dcterms:W3CDTF">2026-09-29T13:33:47Z</dcterms:created>
  <dcterms:modified xsi:type="dcterms:W3CDTF">2026-09-29T13:33:47Z</dcterms:modified>
</cp:coreProperties>
</file>